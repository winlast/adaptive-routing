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B7A"/>
                </a:solidFill>
                <a:latin typeface="Calibri"/>
              </a:defRPr>
            </a:pPr>
            <a:r>
              <a:rPr lang="ru-RU" sz="1300" b="0" i="0" u="none" strike="noStrike">
                <a:solidFill>
                  <a:srgbClr val="5B6B7A"/>
                </a:solidFill>
                <a:latin typeface="Calibri"/>
              </a:rPr>
              <a:t>Задержка медленных запросов, мс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Обычная балансировка</c:v>
                </c:pt>
              </c:strCache>
            </c:strRef>
          </c:tx>
          <c:spPr>
            <a:ln w="3810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82.8</c:v>
                </c:pt>
                <c:pt idx="1">
                  <c:v>115</c:v>
                </c:pt>
                <c:pt idx="2">
                  <c:v>233</c:v>
                </c:pt>
                <c:pt idx="3">
                  <c:v>403.3</c:v>
                </c:pt>
                <c:pt idx="4">
                  <c:v>544.20000000000005</c:v>
                </c:pt>
                <c:pt idx="5">
                  <c:v>713.1</c:v>
                </c:pt>
                <c:pt idx="6">
                  <c:v>998.4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D0-4498-BE52-2D044BC5C1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LoadLens</c:v>
                </c:pt>
              </c:strCache>
            </c:strRef>
          </c:tx>
          <c:spPr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70.400000000000006</c:v>
                </c:pt>
                <c:pt idx="1">
                  <c:v>68</c:v>
                </c:pt>
                <c:pt idx="2">
                  <c:v>70.5</c:v>
                </c:pt>
                <c:pt idx="3">
                  <c:v>73.599999999999994</c:v>
                </c:pt>
                <c:pt idx="4">
                  <c:v>72</c:v>
                </c:pt>
                <c:pt idx="5">
                  <c:v>78.5</c:v>
                </c:pt>
                <c:pt idx="6">
                  <c:v>80.400000000000006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D0-4498-BE52-2D044BC5C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lang="ru-RU" sz="1100" b="0" i="0" u="none" strike="noStrike">
                    <a:solidFill>
                      <a:srgbClr val="5B6B7A"/>
                    </a:solidFill>
                    <a:latin typeface="Arial"/>
                  </a:rPr>
                  <a:t>одновременных пользователей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027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78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Информационная презентация для жюри. Читается без докладчика.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sd-tula@mail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40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LOADLENS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 что вам обходится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запрос к вашему API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считает запросы штуками. Но один и тот же адрес стоит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по-разному в десятки раз — и за этот разброс вы платите серверами.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Синявский Станислав  ·  МГТУ им. Н. Э. Баумана  ·  winlast.github.io/loadlens</a:t>
            </a:r>
            <a:endParaRPr lang="en-US" sz="1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9D87D-44F6-C1CE-95D5-D2AF690ED960}"/>
              </a:ext>
            </a:extLst>
          </p:cNvPr>
          <p:cNvSpPr txBox="1"/>
          <p:nvPr/>
        </p:nvSpPr>
        <p:spPr>
          <a:xfrm>
            <a:off x="751243" y="6083845"/>
            <a:ext cx="10515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dirty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ssd-tula@mail.ru</a:t>
            </a:r>
            <a:endParaRPr lang="en-US" sz="12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sz="12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Быстрая прямая связь в </a:t>
            </a:r>
            <a:r>
              <a:rPr lang="en-US" sz="12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Telegram: @winlast </a:t>
            </a:r>
            <a:endParaRPr lang="ru-RU" sz="12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Пользователь ждёт из-за чужого запроса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нажимает «посмотреть баланс». Обычно это доли секунды, иногда — три. Он ничего не сделал не так: в этот момент кто-то другой заказал выписку за год, и его тяжёлый запрос занял сервер целиком.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лечат это деньгами — покупают кратно больше мощностей, чтобы редкие тяжёлые запросы не ломали отклик остальным. Это работает и стоит дорого.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882128" y="1938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выходит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2377440"/>
            <a:ext cx="3383280" cy="15350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Балансировщик распределяет запросы, не зная их стоимости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него пять лёгких обращений и пять тяжёлых неразличимы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разница между ними — десятки раз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чья-то ошибка, а устройство почти всякого современного сервиса.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НАХОДКА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запроса не определяется его адресом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чужая база данных — PostgreSQL за PostgREST. Нашего кода в ней нет ни строки. Все четыре обращения идут по одному и тому же адресу: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6858000" cy="192024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 — адрес один и тот же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/orders?id=eq.500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/orders?limit=5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/orders?limit=20000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/orders?order=amount.desc&amp;limit=20000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123,1 мс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33172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26517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72 раза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4015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самым дешёвым и самым дорогим обращением по одному адресу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Настройками это не лечится: вес задаётся на адрес, а различие лежит внутри адреса. Настраивать нечего.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Почти у половины сервисов в настоящем облаке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опубликовала журнал своей облачной платформы. Это настоящие клиенты, а не наш стенд — мы к этим данным не прикасались.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25112" y="22860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10144" y="22860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87552" y="26060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44,6 %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3558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обработчиков расходятся по времени не меньше чем в 10 раз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6060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11,7 %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3558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расходятся не меньше чем в 100 раз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6060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8 раз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3558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типичный разброс — и мы говорим это прямо, а не берём рекордные примеры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данных: 32 968 обработчиков, 1 801 682 426 вызовов.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существует не только у нас. Значит, есть кому продавать.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Узнать стоимость заранее — и разложить запросы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вычисляем стоимость каждого запроса до того, как он попадёт на сервер, — из обычного журнала обращений, без единой правки в коде клиента.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Показать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журнал, который сервер уже пишет. Ничего не устанавливается, код не меняется, доступ к системе не нужен. За минуту показывает, есть ли проблема и сколько она стоит.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Готово. Бесплатно. Работает сегодня.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3774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56248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Починить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2004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Раскладывает обращения так, чтобы тяжёлые не задерживали лёгкие. Ставится внутрь того сервера, который у клиента уже стоит, либо отдельной программой.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444398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 р</a:t>
            </a:r>
            <a:r>
              <a:rPr lang="en-US" sz="135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аботает</a:t>
            </a:r>
            <a:r>
              <a:rPr lang="en-US" sz="13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замерено. </a:t>
            </a:r>
            <a:r>
              <a:rPr lang="en-US" sz="13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боевой эксплуатации — нужны реальные клиенты и немного времени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именно такой: никто не поставит незнакомую программу в путь боевых запросов. Вход — диагностика с нулевым риском.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серверов при том же качестве отклика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656 640 ₽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 для сервиса на 1000 запросов в секунду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строгим требованием к отклику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8C9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серверов</a:t>
            </a:r>
            <a:endParaRPr lang="en-US" sz="2500" dirty="0"/>
          </a:p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нужно</a:t>
            </a: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серверов</a:t>
            </a:r>
            <a:endParaRPr lang="en-US" sz="2500" dirty="0"/>
          </a:p>
          <a:p>
            <a:pPr marL="0" indent="0">
              <a:buNone/>
            </a:pPr>
            <a:r>
              <a:rPr lang="en-US" sz="13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достаточно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37 % расходов на серверы. Расчёт по публичному прейскуранту Yandex Cloud — проверяется в один клик.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эффект — пользовательский: в нашем замере каждый третий быстрый запрос тормозил дольше двух десятых секунды. Стало — ни одного.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ОТЛИЧИЕ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 нагрузкой задержка у нас не растёт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040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73568" y="160020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3210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читать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240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людей одновременно пользуются сервисом, тем дольше ждут те, кому не повезло.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обычной балансировки ожидание вырастает почти в двенадцать раз.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 остаётся на месте: тяжёлые обращения просто не попадают туда, где мешают.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отсюда берётся экономия на серверах: чтобы уложиться в обещание по скорости, обычной схеме нужно больше машин.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УБЕДИТЬСЯ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можно прямо сейчас, за минуту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надо верить нам на слово и не надо ничего устанавливать. Инструмент открывается в браузере как обычная страница.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99648" cy="1051560"/>
          </a:xfrm>
          <a:prstGeom prst="roundRect">
            <a:avLst>
              <a:gd name="adj" fmla="val 782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542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winlast.github.io/loadlens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5349240" cy="137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Перетащить журнал обращений мышью — и увидеть отчёт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нажать «Показать на примере», если журнала под рукой нет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Понимаются журналы nginx, Apache, Caddy, Cloudflare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488" y="36118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56248" y="38404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безопасно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42062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никуда не отправляется. Это не обещание, а устройство: у страницы нет сервера, отправлять физически некуда. Всё считается на вашем компьютере.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расчёт доступен программой командной строки — числа совпадают, и это проверяется автоматически.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это нужно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опознаётся по трём признакам, и нужны все три сразу: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402336" cy="402336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6771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Разные по тяжести запросы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32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одном сервисе рядом живут мгновенные операции и тяжёлые: каталог и выгрузка, поиск и отчёт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46704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27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Строгое требование к скорости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по времени отклика записано в договор, в требования к интерфейсу или в ожидания пользователей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402336" cy="402336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25696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068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Современная архитектура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908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Стек, где одно тяжёлое вычисление задерживает обработку всех остальных обращений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35240" y="2148840"/>
            <a:ext cx="3904488" cy="3200400"/>
          </a:xfrm>
          <a:prstGeom prst="roundRect">
            <a:avLst>
              <a:gd name="adj" fmla="val 2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73568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такие водятся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743200"/>
            <a:ext cx="3291840" cy="2087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Торговые площадки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Платёжные шлюзы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Финтех и банки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подбор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панели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 с выгрузками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рынка в деньгах мы не считали и цифру называть не будем: любое число сейчас было бы выдумано. Как её получить — на слайде «Состояние».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160">
                <a:solidFill>
                  <a:srgbClr val="C8860D"/>
                </a:solidFill>
                <a:latin typeface="Calibri"/>
              </a:rPr>
              <a:t>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2027"/>
                </a:solidFill>
                <a:latin typeface="Cambria"/>
              </a:rPr>
              <a:t>Кто чувствует это острее всего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0" i="0">
                <a:solidFill>
                  <a:srgbClr val="1A2027"/>
                </a:solidFill>
                <a:latin typeface="Calibri"/>
              </a:rPr>
              <a:t>Три признака выше говорят, где живёт проблема. Но острее всех её чувствуют те, у кого меньше всего возможностей с ней разбираться.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5237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1A2027"/>
                </a:solidFill>
                <a:latin typeface="Cambria"/>
              </a:rPr>
              <a:t>Маленькие 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44368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Несколько человек, и все заняты продуктом. Выделенного инженера по инфраструктуре нет — и ещё долго не будет.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228600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25237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1A2027"/>
                </a:solidFill>
                <a:latin typeface="Cambria"/>
              </a:rPr>
              <a:t>Новые продукты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944368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Нагрузка только появилась и повела себя странно. Разбираться некогда: всё время уходит на то, ради чего стартап и затевался.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7" y="2286000"/>
            <a:ext cx="3529584" cy="187451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5237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>
                <a:solidFill>
                  <a:srgbClr val="1A2027"/>
                </a:solidFill>
                <a:latin typeface="Cambria"/>
              </a:rPr>
              <a:t>Те, кто не хочет вникать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44368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И это нормально. Сегодня, чтобы понять, почему сервис иногда тормозит, надо стать специалистом по очередям и профилированию.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10899648" cy="13258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F2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45152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spc="160">
                <a:solidFill>
                  <a:srgbClr val="C8860D"/>
                </a:solidFill>
                <a:latin typeface="Calibri"/>
              </a:rPr>
              <a:t>ЧТО МЫ ИМ ДАЁМ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74336"/>
            <a:ext cx="10149840" cy="7617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1" i="0" dirty="0" err="1">
                <a:solidFill>
                  <a:srgbClr val="1A2027"/>
                </a:solidFill>
                <a:latin typeface="Cambria"/>
              </a:rPr>
              <a:t>Ответ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, а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не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исследование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.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Перетащить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журнал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мышью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—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минута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: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без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установки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,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без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документации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,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без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найма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отдельного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человека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.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Если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проблемы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нет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—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это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тоже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ответ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, и </a:t>
            </a:r>
            <a:r>
              <a:rPr sz="1650" b="1" i="0" dirty="0" err="1">
                <a:solidFill>
                  <a:srgbClr val="1A2027"/>
                </a:solidFill>
                <a:latin typeface="Cambria"/>
              </a:rPr>
              <a:t>он</a:t>
            </a:r>
            <a:r>
              <a:rPr sz="1650" b="1" i="0" dirty="0">
                <a:solidFill>
                  <a:srgbClr val="1A2027"/>
                </a:solidFill>
                <a:latin typeface="Cambria"/>
              </a:rPr>
              <a:t> </a:t>
            </a:r>
            <a:r>
              <a:rPr sz="1650" b="1" i="0" u="sng" dirty="0" err="1">
                <a:solidFill>
                  <a:srgbClr val="1A2027"/>
                </a:solidFill>
                <a:latin typeface="Cambria"/>
              </a:rPr>
              <a:t>бесплатный</a:t>
            </a:r>
            <a:r>
              <a:rPr lang="ru-RU" sz="1650" b="1" dirty="0">
                <a:solidFill>
                  <a:srgbClr val="1A2027"/>
                </a:solidFill>
                <a:latin typeface="Cambria"/>
              </a:rPr>
              <a:t> для первых взаимодействий</a:t>
            </a:r>
            <a:endParaRPr sz="1650" b="1" i="0" dirty="0">
              <a:solidFill>
                <a:srgbClr val="1A2027"/>
              </a:solidFill>
              <a:latin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Открытое ядро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38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Бесплатно, навсегда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и маршрутизатор — открытый код. Это не щедрость, а расчёт: единственное наше преимущество в том, что нас можно проверить за десять минут, никого не спрашивая.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6248" y="1938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деньги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3774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нужно, когда от инструмента уже зависят: обновление модели по свежему журналу, панель управления, оповещения о сбоях, интеграции и поддержка.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899648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цены, который мы готовы записать в договор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0740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не превышает трети той экономии, которую диагностика показала на журнале самого клиента. Показала мало — значит, продавать нечего, и мы скажем это первыми.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Конкретных тарифов пока не называем: платящих клиентов нет, и цена, придуманная до первой сделки, была бы выдумкой.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Первым, кто возьмёт продукт в работу, он достаётся бесплатно.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не закрыто существующими средствами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скажем то, что в любом случае приходит на ум: сама идея предсказывать стоимость запроса не нова. Но существующие средства не решают задачу — и не потому, что они хуже, а потому что устроены иначе.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99648" cy="28346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Чего не может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Обычные балансировщики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Реагируют на перегрузку, когда она уже случилась. Не знают, что именно этот запрос окажется тяжёлым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Промышленные шлюзы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Умеют учитывать стоимость, но требуют, чтобы её сообщал сам сервис, — то есть чтобы его переделали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Системы наблюдения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Показывают, что стало плохо, но не связывают это с параметром запроса и ничего не предпринимают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Автомасштабирование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Добавляет мощность, но не разбирает очередь: новый сервер поднимается десятки секунд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" y="5623560"/>
            <a:ext cx="10899648" cy="1005840"/>
          </a:xfrm>
          <a:prstGeom prst="roundRect">
            <a:avLst>
              <a:gd name="adj" fmla="val 818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96696" y="5815763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место, сформулированное узко: модель стоимости выводится из обычного журнала, который пишется у всех, и не требует ни строчки изменений в сервисе клиента.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на четырёх уровнях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84248"/>
            <a:ext cx="384048" cy="384048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93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чужом программном обеспечении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134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 данных и сервер, которые писали не мы. Инструмент сам, зная только времена ответа, нашёл, какая именно операция обходится дороже всего.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984248"/>
            <a:ext cx="384048" cy="384048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0299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19293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данных Microsoft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3134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1 801 682 426 вызовов настоящих клиентов облачной платформы. Это доказывает, что проблема массовая, а не выдумана под наш стенд.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767328"/>
            <a:ext cx="384048" cy="384048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813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настоящем рабочем сервере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09651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про экономию сняты в той самой форме, в какой продукт приходит к клиенту, а не в упрощённой модели.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34747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767328"/>
            <a:ext cx="384048" cy="384048"/>
          </a:xfrm>
          <a:prstGeom prst="ellipse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3813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37124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Любым, кто откроет репозиторий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409651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проверки, каждая одной командой, десять минут. Ни одно число не попадает в наши тексты, пока не лежит в файле с данными.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99648" cy="1051560"/>
          </a:xfrm>
          <a:prstGeom prst="roundRect">
            <a:avLst>
              <a:gd name="adj" fmla="val 782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46811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то, чем мы дорожим больше остального: первая версия проекта показывала результат вдвое лучше нынешнего. При проверке выяснилось, что он был завышен. Мы переделали всё с нуля — и честные числа получились скромнее заявленных.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про ограничения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это, вероятно, не поможет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Называем сами, потому что измерили. Продукт, у которого нет границ, обычно просто плохо проверен.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требование к скорости очень мягкое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240280"/>
            <a:ext cx="6099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по нашему же расчёту нулевая. Пакетной обработке и выгрузкам продукт не нужен, и мы не станем его туда продавать.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27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некоторых случаях это размен, а не чистый выигрыш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3227832"/>
            <a:ext cx="6099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пропускная способность снижается примерно на 10-20%: тяжёлые обращения идут медленнее, зато лёгкие АБСОЛЮТНО перестают за ними стоять.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153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все запросы одинаковы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4215384"/>
            <a:ext cx="6099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Раскладывать нечего, и наш подход проигрывает обычной схеме. Диагностика покажет это бесплатно и за минуту — до всякой покупки.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029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Боевых данных настоящей компании у нас нет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5202936"/>
            <a:ext cx="6099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главный пробел. Ровно поэтому диагностика бесплатна и ничего не меняет в чужой системе.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из этих ограничений не отменяет остального: там, где условия совпали, выигрыш измерен, велик и воспроизводится.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готово, чего нет и чего я прошу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2926080" cy="1452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работает и доступна всем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 замерен в рабочем сервере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числа воспроизводятся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645152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нет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286000"/>
            <a:ext cx="2926080" cy="1452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платящего клиента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Журналов настоящих компаний не видели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 — стабильно рабочий прототип, но не боевая версия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0144" y="1691640"/>
            <a:ext cx="3529584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330184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человек: студент МГТУ им. Н. Э. Баумана. Исследование, измерения, три формы продукта и эта презентация сделаны в одиночку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99648" cy="1965960"/>
          </a:xfrm>
          <a:prstGeom prst="roundRect">
            <a:avLst>
              <a:gd name="adj" fmla="val 41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05840" y="44988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ПРОШУ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84632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денег на рост — рано. Прошу связей: </a:t>
            </a:r>
            <a:r>
              <a:rPr lang="en-US" sz="165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 прогнать бесплатную диагностику на журналах трёх–пяти живых сервисов.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05840" y="554126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Журналы у команд уже есть, устанавливать ничего не надо, ответ получается за вечер. Это либо подтвердит, что рынок есть — и тогда его можно посчитать, — либо покажет, что проблема наша частная. Второе я скажу так же прямо.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СВЯЗАТЬСЯ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Покажите нам свой журнал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разброс у вас нашёлся — разберём вместе. Если не нашёлся — скажите тем более: отрицательный ответ для нас так же ценен.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ssd-tula@mail.ru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36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4636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@winlast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11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51114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winlast.github.io/loadlens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869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55869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github.com/winlast/loadlens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ПРИЛОЖЕНИЕ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 и что именно измерено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техническая часть. Для тех, кто захочет проверить механизм, а не только результат. Для понимания предыдущих слайдов она не нужна.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вообще возникает задержка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веб-движки обслуживают все соединения одним потоком выполнения. На ожидании внешних систем это прекрасно — потому отрасль на них и перешла. Но вычисление в таком потоке выполняется неделимо и на всё своё время останавливает обработку всех остальных запросов.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запрос — проверка пароля — задерживает соседние обращения по-разному, в зависимости от того, куда он попал: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34747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9,3 мс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2245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соседям в сервере с потоками — там вычисление идёт параллельно с обработкой других запросов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32004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34747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124,7 мс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42245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соседям в однопоточном цикле — там они ждут чужое вычисление целиком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663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время выполнения при этом почти одинаковое: движки расходятся не в скорости, а в том, сколько вреда запрос причиняет соседям. Отсюда и решение: не пускать тяжёлое туда, где оно блокирует остальных.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СТОИМОСТИ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берётся число, которого ещё нет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надо узнать до обработки запроса. Единственный источник, который есть у всех и ничего не требует, — журнал прошлых обращений.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87552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Читаем журнал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735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параметры запроса и время ответа. Больше ничего не нужно: ни доступа к коду, ни встроенных замеров.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224028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0016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Подбираем зависимость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2735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наименьших квадратов в логарифмах — многомерная линейная регрессия. Около шестидесяти строк без единой библиотеки.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224028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0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на отложенных данных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27355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настраивается на одной половине журнала и проверяется на другой, которую не видела.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0899648" cy="1417320"/>
          </a:xfrm>
          <a:prstGeom prst="roundRect">
            <a:avLst>
              <a:gd name="adj" fmla="val 58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8280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это работает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166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чужой базе оценка по адресу ошибается на 177,1 %, а оценка по признакам запроса — на 33,1 %. Инструмент при этом сам, без подсказки, определил, какая операция дороже всего, — и это оказалась не та, о которой думали.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Нейронной сети в продукте нет. Она есть в исследовательской части, но в продукт не пошла: </a:t>
            </a:r>
            <a:r>
              <a:rPr lang="en-US" sz="1250" b="1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ею принимается в сто раз медленнее и само становится узким местом.</a:t>
            </a:r>
            <a:endParaRPr lang="en-US" sz="125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Числа, на которых держится экономия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рабочий сервер, тот же трафик, те же обработчики. Отличается только способ выбора, куда отправить запрос.</a:t>
            </a:r>
            <a:endParaRPr 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99648" cy="2852928"/>
        </p:xfrm>
        <a:graphic>
          <a:graphicData uri="http://schemas.openxmlformats.org/drawingml/2006/table">
            <a:tbl>
              <a:tblPr/>
              <a:tblGrid>
                <a:gridCol w="504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обычная балансировка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LoadLens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быстрые запросы, медиана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103,9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медленные запросы, порог 95 %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852,4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медленнее 200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36,9 %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запросов в секунду при обещании 100 мс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общая пропускная способность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86400"/>
            <a:ext cx="10899648" cy="91440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005840" y="56875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строка — цена, которую мы платим. Общая пропускная способность немного падает: это осознанный размен, а не побочный эффект. Мы показываем её в той же таблице, а не прячем.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ОТРАСЛИ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Пустая ячейка, которую мы можем занять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шлюзы уже научились брать плату по стоимости запроса: квота списывается не по числу обращений, а по их тяжести. Механизм готов и работает.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99648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откуда берётся само число — не решено ни у кого. В документации прямо сказано: автоматической оценки стоимости нет, нужно либо вписать значение руками, либо чтобы его вычислил и передал посторонний сервис.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136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Этим посторонним сервисом и должен стать LoadLens. Связка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промышленным шлюзом пока не построена — это ближайший шаг.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09160"/>
            <a:ext cx="10881360" cy="137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Строить свой ограничитель не нужно — он уже есть и лучше нашего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Пустует ровно та ячейка, которую можем заполнить мы: кто скажет, сколько стоит вот этот запрос, до того как он обработан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идёт через стандартную точку расширения, а не через нашу самоделку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081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по документации в сентябре 2026 года.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ДОКАЗАННОГО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измерено, а что пока нет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Измерено и воспроизводится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617720" cy="2466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задержки и её разница между движками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стоимости внутри одного адреса — на чужом ПО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Предсказуемость стоимости по признакам запроса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Выигрыш в настоящем рабочем сервере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размена: минус пятая часть пропускной способности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 проблемы — на данных Microsoft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blurRad="127000" dist="25400" dir="5400000" algn="bl" rotWithShape="0">
              <a:srgbClr val="9AA7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6248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</a:t>
            </a:r>
            <a:r>
              <a:rPr lang="en-US" sz="17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измерено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377440"/>
            <a:ext cx="4617720" cy="2032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трафик настоящей компании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при росте числа серверов — предполагается, не измерено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рынка платить и его размер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стоимости на данных Microsoft: параметров запросов там нет, проверена только сама проблема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проекта: ни одно число не попадает в текст, пока не лежит в файле с данными. Соответствие проверяется автоматически при каждой сборке — включая числа этой презентации.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2644</Words>
  <Application>Microsoft Office PowerPoint</Application>
  <PresentationFormat>Широкоэкранный</PresentationFormat>
  <Paragraphs>289</Paragraphs>
  <Slides>22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LoadLens</dc:title>
  <dc:subject>PptxGenJS Presentation</dc:subject>
  <dc:creator>Синявский Станислав</dc:creator>
  <cp:lastModifiedBy>Станислав Синявский</cp:lastModifiedBy>
  <cp:revision>7</cp:revision>
  <dcterms:created xsi:type="dcterms:W3CDTF">2026-09-24T20:04:11Z</dcterms:created>
  <dcterms:modified xsi:type="dcterms:W3CDTF">2026-09-24T20:17:54Z</dcterms:modified>
</cp:coreProperties>
</file>