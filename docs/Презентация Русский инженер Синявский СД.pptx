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0" r:id="rId3"/>
    <p:sldId id="261" r:id="rId4"/>
    <p:sldId id="264" r:id="rId5"/>
    <p:sldId id="265" r:id="rId6"/>
    <p:sldId id="266" r:id="rId7"/>
    <p:sldId id="274" r:id="rId8"/>
    <p:sldId id="277" r:id="rId9"/>
  </p:sldIdLst>
  <p:sldSz cx="12192000" cy="6858000"/>
  <p:notesSz cx="12192000" cy="6858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840">
          <p15:clr>
            <a:srgbClr val="000000"/>
          </p15:clr>
        </p15:guide>
        <p15:guide id="2" orient="horz" pos="2160">
          <p15:clr>
            <a:srgbClr val="000000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9" roundtripDataSignature="AMtx7mhCxH63dKV6DaQGfZaIE5sKMA1EC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D0691F4-E5CB-4F7D-A3ED-A62BF6E99DF8}">
  <a:tblStyle styleId="{0D0691F4-E5CB-4F7D-A3ED-A62BF6E99DF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29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9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32400" y="514350"/>
            <a:ext cx="81284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2:notes"/>
          <p:cNvSpPr txBox="1">
            <a:spLocks noGrp="1"/>
          </p:cNvSpPr>
          <p:nvPr>
            <p:ph type="body" idx="1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0" y="514350"/>
            <a:ext cx="4573588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4"/>
          <p:cNvSpPr txBox="1">
            <a:spLocks noGrp="1"/>
          </p:cNvSpPr>
          <p:nvPr>
            <p:ph type="sldNum" idx="12"/>
          </p:nvPr>
        </p:nvSpPr>
        <p:spPr>
          <a:xfrm>
            <a:off x="11521440" y="3246437"/>
            <a:ext cx="47853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5"/>
          <p:cNvSpPr txBox="1">
            <a:spLocks noGrp="1"/>
          </p:cNvSpPr>
          <p:nvPr>
            <p:ph type="sldNum" idx="12"/>
          </p:nvPr>
        </p:nvSpPr>
        <p:spPr>
          <a:xfrm>
            <a:off x="11521440" y="3246437"/>
            <a:ext cx="47853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26"/>
          <p:cNvSpPr txBox="1">
            <a:spLocks noGrp="1"/>
          </p:cNvSpPr>
          <p:nvPr>
            <p:ph type="sldNum" idx="12"/>
          </p:nvPr>
        </p:nvSpPr>
        <p:spPr>
          <a:xfrm>
            <a:off x="11521440" y="3246437"/>
            <a:ext cx="47853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7"/>
          <p:cNvSpPr txBox="1">
            <a:spLocks noGrp="1"/>
          </p:cNvSpPr>
          <p:nvPr>
            <p:ph type="sldNum" idx="12"/>
          </p:nvPr>
        </p:nvSpPr>
        <p:spPr>
          <a:xfrm>
            <a:off x="11521440" y="3246437"/>
            <a:ext cx="47853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8"/>
          <p:cNvSpPr txBox="1">
            <a:spLocks noGrp="1"/>
          </p:cNvSpPr>
          <p:nvPr>
            <p:ph type="sldNum" idx="12"/>
          </p:nvPr>
        </p:nvSpPr>
        <p:spPr>
          <a:xfrm>
            <a:off x="11521440" y="3246437"/>
            <a:ext cx="47853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2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29"/>
          <p:cNvSpPr txBox="1">
            <a:spLocks noGrp="1"/>
          </p:cNvSpPr>
          <p:nvPr>
            <p:ph type="body" idx="2"/>
          </p:nvPr>
        </p:nvSpPr>
        <p:spPr>
          <a:xfrm>
            <a:off x="839788" y="2505074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2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9"/>
          <p:cNvSpPr txBox="1">
            <a:spLocks noGrp="1"/>
          </p:cNvSpPr>
          <p:nvPr>
            <p:ph type="body" idx="4"/>
          </p:nvPr>
        </p:nvSpPr>
        <p:spPr>
          <a:xfrm>
            <a:off x="6172200" y="2505074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9"/>
          <p:cNvSpPr txBox="1">
            <a:spLocks noGrp="1"/>
          </p:cNvSpPr>
          <p:nvPr>
            <p:ph type="sldNum" idx="12"/>
          </p:nvPr>
        </p:nvSpPr>
        <p:spPr>
          <a:xfrm>
            <a:off x="11521440" y="3246437"/>
            <a:ext cx="47853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3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0"/>
          <p:cNvSpPr txBox="1">
            <a:spLocks noGrp="1"/>
          </p:cNvSpPr>
          <p:nvPr>
            <p:ph type="sldNum" idx="12"/>
          </p:nvPr>
        </p:nvSpPr>
        <p:spPr>
          <a:xfrm>
            <a:off x="11521440" y="3246437"/>
            <a:ext cx="47853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3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3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1"/>
          <p:cNvSpPr txBox="1">
            <a:spLocks noGrp="1"/>
          </p:cNvSpPr>
          <p:nvPr>
            <p:ph type="sldNum" idx="12"/>
          </p:nvPr>
        </p:nvSpPr>
        <p:spPr>
          <a:xfrm>
            <a:off x="11521440" y="3246437"/>
            <a:ext cx="47853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2"/>
          <p:cNvSpPr txBox="1">
            <a:spLocks noGrp="1"/>
          </p:cNvSpPr>
          <p:nvPr>
            <p:ph type="sldNum" idx="12"/>
          </p:nvPr>
        </p:nvSpPr>
        <p:spPr>
          <a:xfrm>
            <a:off x="11521440" y="3246437"/>
            <a:ext cx="47853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3"/>
          <p:cNvSpPr txBox="1">
            <a:spLocks noGrp="1"/>
          </p:cNvSpPr>
          <p:nvPr>
            <p:ph type="sldNum" idx="12"/>
          </p:nvPr>
        </p:nvSpPr>
        <p:spPr>
          <a:xfrm>
            <a:off x="11521440" y="3246437"/>
            <a:ext cx="47853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4"/>
          <p:cNvSpPr txBox="1">
            <a:spLocks noGrp="1"/>
          </p:cNvSpPr>
          <p:nvPr>
            <p:ph type="sldNum" idx="12"/>
          </p:nvPr>
        </p:nvSpPr>
        <p:spPr>
          <a:xfrm>
            <a:off x="11521440" y="3246437"/>
            <a:ext cx="47853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3"/>
          <p:cNvSpPr txBox="1">
            <a:spLocks noGrp="1"/>
          </p:cNvSpPr>
          <p:nvPr>
            <p:ph type="sldNum" idx="12"/>
          </p:nvPr>
        </p:nvSpPr>
        <p:spPr>
          <a:xfrm>
            <a:off x="11521440" y="3246437"/>
            <a:ext cx="47853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ssd-tula@mail.r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406768" y="1956688"/>
            <a:ext cx="9342227" cy="27368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ru-RU" sz="3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Адаптивная маршрутизация HTTP-запросов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ru-RU" sz="3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между синхронным и асинхронным веб-движками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Arial"/>
              <a:buNone/>
            </a:pPr>
            <a:r>
              <a:rPr lang="ru-RU" sz="3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на основе классификатора нагрузки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1406768" y="5695483"/>
            <a:ext cx="5316372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Синявский С. Д., МГТУ им. Н.Э. Баумана</a:t>
            </a: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4591050" y="524800"/>
            <a:ext cx="4191000" cy="653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sz="20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4392955" y="442912"/>
            <a:ext cx="4335409" cy="817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2500" lnSpcReduction="20000"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Всероссийская научно-практическая конференция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ru-RU"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«Русский инженер»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6723140" y="5633928"/>
            <a:ext cx="2745111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Москва, 2026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"/>
          <p:cNvSpPr/>
          <p:nvPr/>
        </p:nvSpPr>
        <p:spPr>
          <a:xfrm>
            <a:off x="0" y="0"/>
            <a:ext cx="4114800" cy="6891867"/>
          </a:xfrm>
          <a:prstGeom prst="parallelogram">
            <a:avLst>
              <a:gd name="adj" fmla="val 0"/>
            </a:avLst>
          </a:prstGeom>
          <a:solidFill>
            <a:srgbClr val="004E9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 txBox="1">
            <a:spLocks noGrp="1"/>
          </p:cNvSpPr>
          <p:nvPr>
            <p:ph type="ctrTitle"/>
          </p:nvPr>
        </p:nvSpPr>
        <p:spPr>
          <a:xfrm>
            <a:off x="310896" y="1417320"/>
            <a:ext cx="35204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</a:pPr>
            <a:r>
              <a:rPr lang="ru-RU" sz="32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Проблема</a:t>
            </a:r>
            <a:endParaRPr/>
          </a:p>
        </p:txBody>
      </p:sp>
      <p:sp>
        <p:nvSpPr>
          <p:cNvPr id="141" name="Google Shape;141;p5"/>
          <p:cNvSpPr txBox="1"/>
          <p:nvPr/>
        </p:nvSpPr>
        <p:spPr>
          <a:xfrm>
            <a:off x="6469380" y="-1257300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 txBox="1"/>
          <p:nvPr/>
        </p:nvSpPr>
        <p:spPr>
          <a:xfrm>
            <a:off x="310896" y="2468880"/>
            <a:ext cx="3520440" cy="3931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ru-RU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Асинхронный движок обслуживает все соединения одним циклом событий. Вычисление выполняется неделимо и на всё своё время останавливает обработку остальных запросов.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ru-RU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Измерено: один и тот же запрос задерживает соседние обращения на 9 мс в потоковом сервере и на 125 мс в цикле событий.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ru-RU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Движки расходятся не в скорости обработки, а в том, сколько вреда запрос причиняет соседям.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3" name="Picture 142" descr="blocking_by_eng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2383155"/>
            <a:ext cx="7635240" cy="1908810"/>
          </a:xfrm>
          <a:prstGeom prst="rect">
            <a:avLst/>
          </a:prstGeom>
        </p:spPr>
      </p:pic>
      <p:sp>
        <p:nvSpPr>
          <p:cNvPr id="144" name="TextBox 143"/>
          <p:cNvSpPr txBox="1"/>
          <p:nvPr/>
        </p:nvSpPr>
        <p:spPr>
          <a:xfrm>
            <a:off x="4297680" y="5257800"/>
            <a:ext cx="7680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34343"/>
                </a:solidFill>
                <a:latin typeface="Arial"/>
              </a:rPr>
              <a:t>Рис. 1. Блокировка движка в зависимости от параметра запроса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"/>
          <p:cNvSpPr/>
          <p:nvPr/>
        </p:nvSpPr>
        <p:spPr>
          <a:xfrm>
            <a:off x="0" y="0"/>
            <a:ext cx="4114800" cy="6891867"/>
          </a:xfrm>
          <a:prstGeom prst="parallelogram">
            <a:avLst>
              <a:gd name="adj" fmla="val 0"/>
            </a:avLst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6"/>
          <p:cNvSpPr txBox="1"/>
          <p:nvPr/>
        </p:nvSpPr>
        <p:spPr>
          <a:xfrm>
            <a:off x="6469380" y="-1257300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 txBox="1"/>
          <p:nvPr/>
        </p:nvSpPr>
        <p:spPr>
          <a:xfrm>
            <a:off x="309219" y="3711175"/>
            <a:ext cx="3246781" cy="3478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6"/>
          <p:cNvSpPr txBox="1"/>
          <p:nvPr/>
        </p:nvSpPr>
        <p:spPr>
          <a:xfrm>
            <a:off x="374904" y="566928"/>
            <a:ext cx="365760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Стоимость запроса</a:t>
            </a:r>
            <a:endParaRPr sz="2000" b="0" i="0" u="none" strike="noStrike" cap="non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не определяется</a:t>
            </a:r>
            <a:endParaRPr sz="2000" b="0" i="0" u="none" strike="noStrike" cap="non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маршрутом</a:t>
            </a:r>
            <a:endParaRPr sz="2000" b="0" i="0" u="none" strike="noStrike" cap="non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6"/>
          <p:cNvSpPr txBox="1"/>
          <p:nvPr/>
        </p:nvSpPr>
        <p:spPr>
          <a:xfrm>
            <a:off x="374904" y="2057400"/>
            <a:ext cx="3520440" cy="4297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/api/search?limit=10 — 10 мс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то же при limit=600 — 640 мс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Разброс внутри одного маршрута — до 61 раза. Весовые настройки задаются на маршрут и выразить это не могут.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Но стоимость предсказуема по признакам, видимым прокси до обработки: ошибка падает с 80 до 3,4 %.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2" name="Picture 151" descr="estimator_accurac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2156460"/>
            <a:ext cx="7635240" cy="2545080"/>
          </a:xfrm>
          <a:prstGeom prst="rect">
            <a:avLst/>
          </a:prstGeom>
        </p:spPr>
      </p:pic>
      <p:sp>
        <p:nvSpPr>
          <p:cNvPr id="153" name="TextBox 152"/>
          <p:cNvSpPr txBox="1"/>
          <p:nvPr/>
        </p:nvSpPr>
        <p:spPr>
          <a:xfrm>
            <a:off x="4297680" y="5212080"/>
            <a:ext cx="7680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34343"/>
                </a:solidFill>
                <a:latin typeface="Arial"/>
              </a:rPr>
              <a:t>Рис. 2. Ошибка оценки стоимости на не встречавшихся значениях параметра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"/>
          <p:cNvSpPr/>
          <p:nvPr/>
        </p:nvSpPr>
        <p:spPr>
          <a:xfrm>
            <a:off x="0" y="1"/>
            <a:ext cx="3893676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 txBox="1"/>
          <p:nvPr/>
        </p:nvSpPr>
        <p:spPr>
          <a:xfrm>
            <a:off x="274320" y="1371600"/>
            <a:ext cx="333756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Arial"/>
              <a:buNone/>
            </a:pPr>
            <a:r>
              <a:rPr lang="ru-RU" sz="14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Классификатор оценивает, на сколько запрос заблокирует цикл событий, и допускает его туда только ниже порога.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Arial"/>
              <a:buNone/>
            </a:pPr>
            <a:r>
              <a:rPr lang="ru-RU" sz="14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Среди допустимых движков выбирается менее занятый.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 txBox="1"/>
          <p:nvPr/>
        </p:nvSpPr>
        <p:spPr>
          <a:xfrm>
            <a:off x="274320" y="64008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МЕТОД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1" name="Picture 190" descr="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9080" y="1081646"/>
            <a:ext cx="7909560" cy="469470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0"/>
          <p:cNvSpPr/>
          <p:nvPr/>
        </p:nvSpPr>
        <p:spPr>
          <a:xfrm>
            <a:off x="8596295" y="6"/>
            <a:ext cx="3595705" cy="6857994"/>
          </a:xfrm>
          <a:prstGeom prst="rect">
            <a:avLst/>
          </a:prstGeom>
          <a:solidFill>
            <a:srgbClr val="D4E5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 txBox="1"/>
          <p:nvPr/>
        </p:nvSpPr>
        <p:spPr>
          <a:xfrm>
            <a:off x="8887968" y="2011680"/>
            <a:ext cx="31546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Arial"/>
              <a:buNone/>
            </a:pPr>
            <a:r>
              <a:rPr lang="ru-RU" sz="2800" b="1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РЕЗУЛЬТАТЫ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0"/>
          <p:cNvSpPr txBox="1"/>
          <p:nvPr/>
        </p:nvSpPr>
        <p:spPr>
          <a:xfrm>
            <a:off x="8887968" y="2880360"/>
            <a:ext cx="3108960" cy="3291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Arial"/>
              <a:buNone/>
            </a:pPr>
            <a:r>
              <a:rPr lang="ru-RU" sz="13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Прирост 18–46 % к лучшему одиночному движку при конкурентности от 16 до 128.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Arial"/>
              <a:buNone/>
            </a:pPr>
            <a:r>
              <a:rPr lang="ru-RU" sz="13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Доля запросов с ухудшенным откликом падает с 89 до 5–7 %.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Arial"/>
              <a:buNone/>
            </a:pPr>
            <a:r>
              <a:rPr lang="ru-RU" sz="13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На однородном потоке выигрыша нет.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8" name="Picture 197" descr="budget_fronti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926945"/>
            <a:ext cx="8046720" cy="3004108"/>
          </a:xfrm>
          <a:prstGeom prst="rect">
            <a:avLst/>
          </a:prstGeom>
        </p:spPr>
      </p:pic>
      <p:sp>
        <p:nvSpPr>
          <p:cNvPr id="199" name="TextBox 198"/>
          <p:cNvSpPr txBox="1"/>
          <p:nvPr/>
        </p:nvSpPr>
        <p:spPr>
          <a:xfrm>
            <a:off x="320040" y="5897880"/>
            <a:ext cx="76809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434343"/>
                </a:solidFill>
                <a:latin typeface="Arial"/>
              </a:rPr>
              <a:t>Рис. 3. Достижимая граница «пропускная способность — хвост задержек»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"/>
          <p:cNvSpPr/>
          <p:nvPr/>
        </p:nvSpPr>
        <p:spPr>
          <a:xfrm>
            <a:off x="1" y="4518212"/>
            <a:ext cx="12192000" cy="2339788"/>
          </a:xfrm>
          <a:prstGeom prst="rect">
            <a:avLst/>
          </a:prstGeom>
          <a:solidFill>
            <a:srgbClr val="D4E5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 txBox="1"/>
          <p:nvPr/>
        </p:nvSpPr>
        <p:spPr>
          <a:xfrm>
            <a:off x="694944" y="4681728"/>
            <a:ext cx="603504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Arial"/>
              <a:buNone/>
            </a:pPr>
            <a:r>
              <a:rPr lang="ru-RU" sz="2800" b="1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Перекрёстный эксперимент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 txBox="1"/>
          <p:nvPr/>
        </p:nvSpPr>
        <p:spPr>
          <a:xfrm>
            <a:off x="694944" y="5349240"/>
            <a:ext cx="1078992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600"/>
              <a:buFont typeface="Arial"/>
              <a:buNone/>
            </a:pPr>
            <a:r>
              <a:rPr lang="ru-RU" sz="14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Результат определяется только тем, какой оценкой взвешена очередь; чем принято решение о допуске — не влияет. Допуску достаточно верного порядка запросов, взвешиванию нужна верная абсолютная величина.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 txBox="1"/>
          <p:nvPr/>
        </p:nvSpPr>
        <p:spPr>
          <a:xfrm>
            <a:off x="694944" y="457200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ГДЕ НЕОБХОДИМО ОБУЧЕНИЕ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9" name="Picture 208" descr="where_learning_matt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4187" y="960120"/>
            <a:ext cx="9153144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/>
        </a:solidFill>
        <a:effectLst/>
      </p:bgPr>
    </p:bg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9"/>
          <p:cNvSpPr txBox="1"/>
          <p:nvPr/>
        </p:nvSpPr>
        <p:spPr>
          <a:xfrm>
            <a:off x="530123" y="1558436"/>
            <a:ext cx="2276390" cy="24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>
                <a:solidFill>
                  <a:srgbClr val="004E9F"/>
                </a:solidFill>
                <a:latin typeface="Arial"/>
                <a:ea typeface="Arial"/>
                <a:cs typeface="Arial"/>
                <a:sym typeface="Arial"/>
              </a:rPr>
              <a:t>МЕХАНИЗМ</a:t>
            </a:r>
            <a:endParaRPr sz="1400" b="0" i="0" u="none" strike="noStrike" cap="none">
              <a:solidFill>
                <a:srgbClr val="004E9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9"/>
          <p:cNvSpPr txBox="1"/>
          <p:nvPr/>
        </p:nvSpPr>
        <p:spPr>
          <a:xfrm>
            <a:off x="521674" y="2002536"/>
            <a:ext cx="324612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i="0" u="none" strike="noStrike" cap="none">
                <a:solidFill>
                  <a:srgbClr val="004E9F"/>
                </a:solidFill>
                <a:latin typeface="Arial"/>
                <a:ea typeface="Arial"/>
                <a:cs typeface="Arial"/>
                <a:sym typeface="Arial"/>
              </a:rPr>
              <a:t>Движки различаются блокировкой,</a:t>
            </a:r>
            <a:endParaRPr sz="1400" b="0" i="0" u="none" strike="noStrike" cap="none">
              <a:solidFill>
                <a:srgbClr val="004E9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i="0" u="none" strike="noStrike" cap="none">
                <a:solidFill>
                  <a:srgbClr val="004E9F"/>
                </a:solidFill>
                <a:latin typeface="Arial"/>
                <a:ea typeface="Arial"/>
                <a:cs typeface="Arial"/>
                <a:sym typeface="Arial"/>
              </a:rPr>
              <a:t>а не скоростью обработки:</a:t>
            </a:r>
            <a:endParaRPr sz="1400" b="0" i="0" u="none" strike="noStrike" cap="none">
              <a:solidFill>
                <a:srgbClr val="004E9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i="0" u="none" strike="noStrike" cap="none">
                <a:solidFill>
                  <a:srgbClr val="004E9F"/>
                </a:solidFill>
                <a:latin typeface="Arial"/>
                <a:ea typeface="Arial"/>
                <a:cs typeface="Arial"/>
                <a:sym typeface="Arial"/>
              </a:rPr>
              <a:t>9 мс против 125 мс.</a:t>
            </a:r>
            <a:endParaRPr sz="1400" b="0" i="0" u="none" strike="noStrike" cap="none">
              <a:solidFill>
                <a:srgbClr val="004E9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8" name="Google Shape;378;p19"/>
          <p:cNvCxnSpPr/>
          <p:nvPr/>
        </p:nvCxnSpPr>
        <p:spPr>
          <a:xfrm rot="10800000">
            <a:off x="8257379" y="1557013"/>
            <a:ext cx="0" cy="4728955"/>
          </a:xfrm>
          <a:prstGeom prst="straightConnector1">
            <a:avLst/>
          </a:prstGeom>
          <a:noFill/>
          <a:ln w="1587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9" name="Google Shape;379;p19"/>
          <p:cNvSpPr txBox="1"/>
          <p:nvPr/>
        </p:nvSpPr>
        <p:spPr>
          <a:xfrm>
            <a:off x="521674" y="474975"/>
            <a:ext cx="8165126" cy="353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b="0" i="0" u="none" strike="noStrike" cap="non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ВЫВОДЫ И ГРАНИЦЫ ПРИМЕНИМОСТИ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0" name="Google Shape;380;p19"/>
          <p:cNvCxnSpPr/>
          <p:nvPr/>
        </p:nvCxnSpPr>
        <p:spPr>
          <a:xfrm rot="10800000">
            <a:off x="3906769" y="1557013"/>
            <a:ext cx="0" cy="4728955"/>
          </a:xfrm>
          <a:prstGeom prst="straightConnector1">
            <a:avLst/>
          </a:prstGeom>
          <a:noFill/>
          <a:ln w="15875" cap="flat" cmpd="sng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81" name="Google Shape;381;p19"/>
          <p:cNvSpPr txBox="1"/>
          <p:nvPr/>
        </p:nvSpPr>
        <p:spPr>
          <a:xfrm>
            <a:off x="4238477" y="1557013"/>
            <a:ext cx="2276390" cy="24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>
                <a:solidFill>
                  <a:srgbClr val="004E9F"/>
                </a:solidFill>
                <a:latin typeface="Arial"/>
                <a:ea typeface="Arial"/>
                <a:cs typeface="Arial"/>
                <a:sym typeface="Arial"/>
              </a:rPr>
              <a:t>ОЦЕНКА</a:t>
            </a:r>
            <a:endParaRPr sz="1400" b="0" i="0" u="none" strike="noStrike" cap="none">
              <a:solidFill>
                <a:srgbClr val="004E9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9"/>
          <p:cNvSpPr txBox="1"/>
          <p:nvPr/>
        </p:nvSpPr>
        <p:spPr>
          <a:xfrm>
            <a:off x="4230028" y="2002536"/>
            <a:ext cx="324612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i="0" u="none" strike="noStrike" cap="none">
                <a:solidFill>
                  <a:srgbClr val="004E9F"/>
                </a:solidFill>
                <a:latin typeface="Arial"/>
                <a:ea typeface="Arial"/>
                <a:cs typeface="Arial"/>
                <a:sym typeface="Arial"/>
              </a:rPr>
              <a:t>Нагрузка предсказуема по признакам</a:t>
            </a:r>
            <a:endParaRPr sz="1400" b="0" i="0" u="none" strike="noStrike" cap="none">
              <a:solidFill>
                <a:srgbClr val="004E9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i="0" u="none" strike="noStrike" cap="none">
                <a:solidFill>
                  <a:srgbClr val="004E9F"/>
                </a:solidFill>
                <a:latin typeface="Arial"/>
                <a:ea typeface="Arial"/>
                <a:cs typeface="Arial"/>
                <a:sym typeface="Arial"/>
              </a:rPr>
              <a:t>запроса, но не по маршруту:</a:t>
            </a:r>
            <a:endParaRPr sz="1400" b="0" i="0" u="none" strike="noStrike" cap="none">
              <a:solidFill>
                <a:srgbClr val="004E9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i="0" u="none" strike="noStrike" cap="none">
                <a:solidFill>
                  <a:srgbClr val="004E9F"/>
                </a:solidFill>
                <a:latin typeface="Arial"/>
                <a:ea typeface="Arial"/>
                <a:cs typeface="Arial"/>
                <a:sym typeface="Arial"/>
              </a:rPr>
              <a:t>80 % ошибки против 3,4 %.</a:t>
            </a:r>
            <a:endParaRPr sz="1400" b="0" i="0" u="none" strike="noStrike" cap="none">
              <a:solidFill>
                <a:srgbClr val="004E9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9"/>
          <p:cNvSpPr txBox="1"/>
          <p:nvPr/>
        </p:nvSpPr>
        <p:spPr>
          <a:xfrm>
            <a:off x="8589086" y="1557013"/>
            <a:ext cx="2276390" cy="24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>
                <a:solidFill>
                  <a:srgbClr val="004E9F"/>
                </a:solidFill>
                <a:latin typeface="Arial"/>
                <a:ea typeface="Arial"/>
                <a:cs typeface="Arial"/>
                <a:sym typeface="Arial"/>
              </a:rPr>
              <a:t>ЦЕЛЕСООБРАЗНОСТЬ</a:t>
            </a:r>
            <a:endParaRPr sz="1400" b="0" i="0" u="none" strike="noStrike" cap="none">
              <a:solidFill>
                <a:srgbClr val="004E9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9"/>
          <p:cNvSpPr txBox="1"/>
          <p:nvPr/>
        </p:nvSpPr>
        <p:spPr>
          <a:xfrm>
            <a:off x="8580637" y="2002536"/>
            <a:ext cx="324612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i="0" u="none" strike="noStrike" cap="none">
                <a:solidFill>
                  <a:srgbClr val="004E9F"/>
                </a:solidFill>
                <a:latin typeface="Arial"/>
                <a:ea typeface="Arial"/>
                <a:cs typeface="Arial"/>
                <a:sym typeface="Arial"/>
              </a:rPr>
              <a:t>Обучение нужно при взвешивании</a:t>
            </a:r>
            <a:endParaRPr sz="1400" b="0" i="0" u="none" strike="noStrike" cap="none">
              <a:solidFill>
                <a:srgbClr val="004E9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i="0" u="none" strike="noStrike" cap="none">
                <a:solidFill>
                  <a:srgbClr val="004E9F"/>
                </a:solidFill>
                <a:latin typeface="Arial"/>
                <a:ea typeface="Arial"/>
                <a:cs typeface="Arial"/>
                <a:sym typeface="Arial"/>
              </a:rPr>
              <a:t>очередей, но не при выборе движка;</a:t>
            </a:r>
            <a:endParaRPr sz="1400" b="0" i="0" u="none" strike="noStrike" cap="none">
              <a:solidFill>
                <a:srgbClr val="004E9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300" b="0" i="0" u="none" strike="noStrike" cap="none">
                <a:solidFill>
                  <a:srgbClr val="004E9F"/>
                </a:solidFill>
                <a:latin typeface="Arial"/>
                <a:ea typeface="Arial"/>
                <a:cs typeface="Arial"/>
                <a:sym typeface="Arial"/>
              </a:rPr>
              <a:t>решение стоит 1,6 мкс против 166.</a:t>
            </a:r>
            <a:endParaRPr sz="1400" b="0" i="0" u="none" strike="noStrike" cap="none">
              <a:solidFill>
                <a:srgbClr val="004E9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9"/>
          <p:cNvSpPr txBox="1"/>
          <p:nvPr/>
        </p:nvSpPr>
        <p:spPr>
          <a:xfrm>
            <a:off x="521207" y="4754880"/>
            <a:ext cx="1078992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>
                <a:solidFill>
                  <a:srgbClr val="004E9F"/>
                </a:solidFill>
                <a:latin typeface="Arial"/>
                <a:ea typeface="Arial"/>
                <a:cs typeface="Arial"/>
                <a:sym typeface="Arial"/>
              </a:rPr>
              <a:t>ГРАНИЦА ПРИМЕНИМОСТИ</a:t>
            </a:r>
            <a:endParaRPr sz="1400" b="0" i="0" u="none" strike="noStrike" cap="none">
              <a:solidFill>
                <a:srgbClr val="004E9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3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 b="0" i="0" u="none" strike="noStrike" cap="none">
                <a:solidFill>
                  <a:srgbClr val="004E9F"/>
                </a:solidFill>
                <a:latin typeface="Arial"/>
                <a:ea typeface="Arial"/>
                <a:cs typeface="Arial"/>
                <a:sym typeface="Arial"/>
              </a:rPr>
              <a:t>На однородном потоке подход вреден, а при деградации самого охраняемого движка преимущество утрачивается полностью.</a:t>
            </a:r>
            <a:endParaRPr sz="1400" b="0" i="0" u="none" strike="noStrike" cap="none">
              <a:solidFill>
                <a:srgbClr val="004E9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2"/>
          <p:cNvSpPr txBox="1"/>
          <p:nvPr/>
        </p:nvSpPr>
        <p:spPr>
          <a:xfrm>
            <a:off x="1379221" y="1897380"/>
            <a:ext cx="9258300" cy="2964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400"/>
              <a:buFont typeface="Arial"/>
              <a:buNone/>
            </a:pPr>
            <a:r>
              <a:rPr lang="ru-RU" sz="54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Спасибо за внимание</a:t>
            </a:r>
            <a:endParaRPr sz="4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2"/>
          <p:cNvSpPr/>
          <p:nvPr/>
        </p:nvSpPr>
        <p:spPr>
          <a:xfrm>
            <a:off x="1379221" y="5417694"/>
            <a:ext cx="5316372" cy="10156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6DEA"/>
              </a:buClr>
              <a:buSzPts val="2000"/>
              <a:buFont typeface="Arial"/>
              <a:buNone/>
            </a:pPr>
            <a:r>
              <a:rPr lang="ru-RU" sz="20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Синявский С. Д.  ·  </a:t>
            </a:r>
            <a:r>
              <a:rPr lang="ru-RU" sz="20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ssd-tula@mail.ru</a:t>
            </a:r>
            <a:endParaRPr lang="en-US" sz="2000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6DEA"/>
              </a:buClr>
              <a:buSzPts val="2000"/>
              <a:buFont typeface="Arial"/>
              <a:buNone/>
            </a:pPr>
            <a:endParaRPr lang="en-US" sz="2000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6DEA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https://github.com/winlast/adaptive-routing</a:t>
            </a:r>
            <a:endParaRPr lang="ru-RU" sz="2000" b="0" i="0" u="none" strike="noStrike" cap="none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391</Words>
  <Application>Microsoft Office PowerPoint</Application>
  <PresentationFormat>Широкоэкранный</PresentationFormat>
  <Paragraphs>57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1" baseType="lpstr">
      <vt:lpstr>Arial</vt:lpstr>
      <vt:lpstr>Calibri</vt:lpstr>
      <vt:lpstr>Тема Office</vt:lpstr>
      <vt:lpstr>Презентация PowerPoint</vt:lpstr>
      <vt:lpstr>Проблема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Станислав Синявский</cp:lastModifiedBy>
  <cp:revision>1</cp:revision>
  <dcterms:created xsi:type="dcterms:W3CDTF">2022-04-18T20:35:07Z</dcterms:created>
  <dcterms:modified xsi:type="dcterms:W3CDTF">2026-09-19T20:53:22Z</dcterms:modified>
</cp:coreProperties>
</file>