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01B95E-1454-A0B6-1672-BB6F04B17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0BD329-34CA-7984-FF71-96FC0A268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C918C4-8726-9E20-3AE5-B40ADBCA6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468520-7E17-DB22-C409-FFAB9F18B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094AF9-E883-6F92-AE13-5918CE6F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354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90D10-5059-02DB-9D87-0A2297179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FF0E7D-0B63-D251-895A-1EAB24473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ACDFE3-6AE1-2208-D57A-7BF9D9899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55BA7C-907E-5A1D-0603-6BB7C4AC2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746487-4FE6-3ECA-69EB-91A6818F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7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87ED59-E1AF-A0C9-C487-767FC231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262EF2-EE99-C833-C637-C6E6864B3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19F69A-2D81-5ECA-D1CB-8E4F2361C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850288-FBF6-50CA-30AD-DB9F0FC5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7BD208-CCB5-8683-7E14-2057452C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26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DD4CC-43AD-D1F6-E5F2-E85079724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905D55-9C07-70CB-0278-2CD7A17D3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89E919B-3C4C-0704-93A6-FFD159207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782FC2-028B-287A-033F-F653D33DC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7C7E74-1576-74F9-9251-E05B914B9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C4A34E-3890-D170-C5E4-D177030B2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31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96312-AB8D-E4CF-0C72-26E9BF2A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954574-F079-850B-5B96-96E5DF2C1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3BC9D4-C30D-FC32-7E47-D71D05E08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87AAA42-96DC-809C-3B44-FA694EA74B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4FF6F16-40D3-8B44-FA80-D76C5D2AFF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EBD22D2-4B9B-FB10-CF30-90943C4B5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4A77F75-15CB-9292-96D3-6219ED69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A244342-C8EB-88DE-6CBF-0D8DE701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17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1E3EA5-CCDC-E860-B119-A3D01C4F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349F36F-64EE-C487-F450-4DA5FA49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A5CE350-F88F-5DFF-77AF-58C1F4D66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BCC9625-9330-5DA4-B92E-639778986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234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4831AC0-FD67-4727-1E86-FC71A240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60F9EBB-AFC7-14F7-D530-A04E17B01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73CBCC-9326-C8D9-7E14-91CABB783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298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D225D-9551-EAB5-DFB9-392A01899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88549E-5F44-377A-E765-458D0BC2D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5E47FB-B98E-4AC7-B190-9CE615D03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02F16E-13EF-0304-E07D-176A0ED11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80F967-6826-5ECD-37CD-F9834A4D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14CCAE-E291-35E3-C856-C7D82997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259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EB26E4-B373-65EF-7A27-9457893C7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B487F1F-6606-A006-DDE2-C5EA742B69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F43FB4-DEE2-7380-7AD3-3848460C1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4880A7-2BC8-B8BD-1D05-61D1F2C4A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ABDB4D-EB40-9C2C-11A6-9C491765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9DC7F4-9636-4E6E-C54F-17F7DD46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700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B658E-E68A-B36B-3C16-EC8C9AC0F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90C666-DC47-EEA3-D245-52CA87FC0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2F9981-65D3-1057-50B0-082D4CD4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C8A97E-94AB-454C-A293-875C70646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BAA453-68F5-C5CA-E581-A1F8B509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908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61FC4D-8724-4364-F734-1979FFD61B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9263CC3-4AA2-CD72-CED6-FEE7D4FCD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ADBA4E-43BE-4F58-592F-5B5CF3C88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D561FE-9E23-071A-2C99-EDB285091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0BE8D9-8474-4F54-2E0C-AAD830BD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2072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25CB2-02CF-FBEA-4687-1183C0502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875796-835C-B7A8-E3CB-3990721E6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DF8036-00F2-E787-B2F6-D4EB8540C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88680-8737-42BA-974D-543FB5640E2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7FB88D-04A9-B705-0D16-EBC59047E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04C572-ABB1-BDD8-3E38-24BD46E34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084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ssd-tula@mail.ru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AD252D-1C54-1D8E-79B4-68F227F9B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674" y="1141216"/>
            <a:ext cx="10240652" cy="2387600"/>
          </a:xfrm>
        </p:spPr>
        <p:txBody>
          <a:bodyPr>
            <a:noAutofit/>
          </a:bodyPr>
          <a:lstStyle/>
          <a:p>
            <a:r>
              <a:rPr lang="ru-RU" sz="4000" b="1" dirty="0"/>
              <a:t>Адаптивная маршрутизация запросов между синхронным и асинхронным веб-движками на основе классификатора нагрузки: оценка практической целесообразности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452E56-627A-5436-C814-6AB0B2B3D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4632" y="5614620"/>
            <a:ext cx="9144000" cy="114743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Синявский Станислав Дмитриевич</a:t>
            </a:r>
            <a:r>
              <a:rPr lang="ru-RU" sz="16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ssd</a:t>
            </a:r>
            <a:r>
              <a:rPr lang="ru-RU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-</a:t>
            </a:r>
            <a:r>
              <a:rPr lang="en-US" sz="16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tula</a:t>
            </a:r>
            <a:r>
              <a:rPr lang="ru-RU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@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mail</a:t>
            </a:r>
            <a:r>
              <a:rPr lang="ru-RU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.ru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Aft>
                <a:spcPts val="1500"/>
              </a:spcAft>
            </a:pPr>
            <a:r>
              <a:rPr lang="ru-RU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ИУ5-31Б МГТУ им. Н.Э. Баумана, Москва, Россия (2026)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29610-89AC-F5B7-99D1-F4D4F9400842}"/>
              </a:ext>
            </a:extLst>
          </p:cNvPr>
          <p:cNvSpPr txBox="1"/>
          <p:nvPr/>
        </p:nvSpPr>
        <p:spPr>
          <a:xfrm>
            <a:off x="339366" y="5614620"/>
            <a:ext cx="41477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/>
              <a:t>Научное направление: Архитектура и программное обеспечение информационных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475856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BB9917-6EDB-ABC1-CF6C-47427365C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/>
              <a:t>Проблема, актуальность, гипотеза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A085BC-D04A-5AA5-3CDD-BDC265541B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3793" y="1690688"/>
            <a:ext cx="11464413" cy="4221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25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Веб-приложения обрабатывают неоднородный трафик: часть запросов вычислительные, часть — I/O-связанные (БД, внешние API, файлы) </a:t>
            </a:r>
          </a:p>
          <a:p>
            <a:pPr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25"/>
              </a:spcAft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(синхронная модель): проще в отладке, предсказуем при низкой конкурентности, блокируется на I/O-ожидании </a:t>
            </a:r>
          </a:p>
          <a:p>
            <a:pPr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(асинхронная модель): неблокирующий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эффективнее использует CPU при высокой доле ожидания </a:t>
            </a:r>
          </a:p>
          <a:p>
            <a:pPr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25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Проблема: на практике команда выбирает ОДИН движок на всё приложение →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субоптимально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при смешанном профиле нагрузки </a:t>
            </a:r>
          </a:p>
          <a:p>
            <a:pPr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25"/>
              </a:spcAft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25"/>
              </a:spcAft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Гипотеза: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адаптивный шлюз с обученным (не эвристическим) классификатором обеспечит: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прирост пропускной способности ≥ 25%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снижение задержки в 1,8–2,2 раза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относительно любого одиночного движка при конкурентной нагрузке 10–200 запросов — выигрыш возможен только при гетерогенном потоке (I/O-bound + CPU-bound вперемешку)</a:t>
            </a:r>
          </a:p>
        </p:txBody>
      </p:sp>
    </p:spTree>
    <p:extLst>
      <p:ext uri="{BB962C8B-B14F-4D97-AF65-F5344CB8AC3E}">
        <p14:creationId xmlns:p14="http://schemas.microsoft.com/office/powerpoint/2010/main" val="1266672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DB4EA8-B2F9-D175-701B-D5F8159A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/>
              <a:t>Архитектура решения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2CFD30A-C676-E3C3-8697-0D7E9C535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0779" y="1373920"/>
            <a:ext cx="11390441" cy="2437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ts val="0"/>
              </a:spcBef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независимых компонента: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(:5000),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(:8000), Gateway (:9000) </a:t>
            </a:r>
          </a:p>
          <a:p>
            <a:pPr eaLnBrk="0" fontAlgn="base" hangingPunct="0">
              <a:lnSpc>
                <a:spcPct val="130000"/>
              </a:lnSpc>
              <a:spcBef>
                <a:spcPts val="0"/>
              </a:spcBef>
            </a:pP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Backend'ы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физически по-разному обрабатывают I/O-bound и CPU-bound запросы: io_intensity ≥ 0,15 → I/O-ожидание (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time.sleep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asyncio.sleep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иначе — настоящий CPU busy-loop (в FastAPI выполняется напрямую в event loop) </a:t>
            </a:r>
          </a:p>
          <a:p>
            <a:pPr eaLnBrk="0" fontAlgn="base" hangingPunct="0">
              <a:lnSpc>
                <a:spcPct val="130000"/>
              </a:lnSpc>
              <a:spcBef>
                <a:spcPts val="0"/>
              </a:spcBef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Gateway на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httpx.AsyncClient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асинхронная пересылка запроса </a:t>
            </a:r>
          </a:p>
          <a:p>
            <a:pPr eaLnBrk="0" fontAlgn="base" hangingPunct="0">
              <a:lnSpc>
                <a:spcPct val="130000"/>
              </a:lnSpc>
              <a:spcBef>
                <a:spcPts val="0"/>
              </a:spcBef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Классификатор принимает 3 признака: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io_intensity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cpu_usage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30000"/>
              </a:lnSpc>
              <a:spcBef>
                <a:spcPts val="0"/>
              </a:spcBef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Выход — вероятность P(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→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по порогу 0,5 </a:t>
            </a:r>
          </a:p>
          <a:p>
            <a:pPr eaLnBrk="0" fontAlgn="base" hangingPunct="0">
              <a:lnSpc>
                <a:spcPct val="130000"/>
              </a:lnSpc>
              <a:spcBef>
                <a:spcPts val="0"/>
              </a:spcBef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Логирование каждого решения в CSV: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timestamp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признаки, вероятность, выбранный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время решения 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FA06804-CD63-B555-EF18-4C03BED16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769" y="3601038"/>
            <a:ext cx="9005921" cy="313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767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62971F-9373-F231-84E2-48AE6ABCF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Классификатор: архитектура, данные, обучение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71CC97-228C-E2BF-0A6F-C43D62D33F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0482" y="1626495"/>
            <a:ext cx="11031036" cy="2299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Архитектура: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полносвязная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сеть 3→16→8→1,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сигмоида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на выходе 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Обучающая выборка: 10000 синтетических наблюдений,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random_state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=42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(воспроизводимость)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Правило разметки: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если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io_intensity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≥ 0,15 (запрос I/O-bound). Правило физически привязано к поведению бэкендов (workload.py), не задано произвольно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 эпох,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BCELoss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Adam 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=0.01)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Итог: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99,7% на отложенной выборке (см.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/classification_report.txt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Среднее время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инференса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&lt; 2 мс; &gt; 2000 решений/сек при 50 параллельных потоках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8B5461-A921-FC44-0F96-295789AEC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68" y="3866954"/>
            <a:ext cx="4785674" cy="299104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CE7C38F-703F-77A9-51F6-F57A08E59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059" y="3896526"/>
            <a:ext cx="3263245" cy="293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95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CBF54-6BE9-C845-79F8-BC3987E5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Что именно выучила модель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540D6B-C872-559D-3847-FE4780E53C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9349" y="1489940"/>
            <a:ext cx="11593302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Сетка 50×50 точек по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(0–200) и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io_intensity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(0–1) при фиксированном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cpu_usage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=50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Слева — непрерывная вероятность P(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справа — итоговое бинарное решение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Граница между зонами — горизонтальная линия по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io_intensity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≈ 0,15, не зависящая от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модель выделила единственный причинно значимый признак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Подтверждает: классификатор научился игнорировать шумовые признаки (load, cpu_usage) и опираться на причинно значимый io_intensity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7A2066-9A18-F3EB-C60B-AB1BAE6DE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02" y="3192970"/>
            <a:ext cx="5497545" cy="366503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C3000-6C29-6AE3-36F9-7E32384BB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92970"/>
            <a:ext cx="5497545" cy="366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52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0F34B-89F1-6E92-A245-6DB35C17C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/>
              <a:t>Пилотный эксперимент: почему первая версия не сработала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9819B42D-AEAF-2152-29BD-2BEA52D05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177670"/>
              </p:ext>
            </p:extLst>
          </p:nvPr>
        </p:nvGraphicFramePr>
        <p:xfrm>
          <a:off x="1530808" y="1122174"/>
          <a:ext cx="9130384" cy="1622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596">
                  <a:extLst>
                    <a:ext uri="{9D8B030D-6E8A-4147-A177-3AD203B41FA5}">
                      <a16:colId xmlns:a16="http://schemas.microsoft.com/office/drawing/2014/main" val="2246511862"/>
                    </a:ext>
                  </a:extLst>
                </a:gridCol>
                <a:gridCol w="2282596">
                  <a:extLst>
                    <a:ext uri="{9D8B030D-6E8A-4147-A177-3AD203B41FA5}">
                      <a16:colId xmlns:a16="http://schemas.microsoft.com/office/drawing/2014/main" val="3231761797"/>
                    </a:ext>
                  </a:extLst>
                </a:gridCol>
                <a:gridCol w="2282596">
                  <a:extLst>
                    <a:ext uri="{9D8B030D-6E8A-4147-A177-3AD203B41FA5}">
                      <a16:colId xmlns:a16="http://schemas.microsoft.com/office/drawing/2014/main" val="3869443143"/>
                    </a:ext>
                  </a:extLst>
                </a:gridCol>
                <a:gridCol w="2282596">
                  <a:extLst>
                    <a:ext uri="{9D8B030D-6E8A-4147-A177-3AD203B41FA5}">
                      <a16:colId xmlns:a16="http://schemas.microsoft.com/office/drawing/2014/main" val="1629752932"/>
                    </a:ext>
                  </a:extLst>
                </a:gridCol>
              </a:tblGrid>
              <a:tr h="4034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Конкурентность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adaptive, RPS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Лучший одиночный, </a:t>
                      </a:r>
                      <a:r>
                        <a:rPr lang="en-US" sz="1400" dirty="0"/>
                        <a:t>RPS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Δ,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936753"/>
                  </a:ext>
                </a:extLst>
              </a:tr>
              <a:tr h="23053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88,1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97,2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–9,4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680043"/>
                  </a:ext>
                </a:extLst>
              </a:tr>
              <a:tr h="23053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221,6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240,7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–7,9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681824"/>
                  </a:ext>
                </a:extLst>
              </a:tr>
              <a:tr h="23053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355,8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386,9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–8,0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49271"/>
                  </a:ext>
                </a:extLst>
              </a:tr>
              <a:tr h="23053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283,6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479,1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–40,8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9978435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2C6DEB1E-3AD0-51A7-C8D6-EC9DE78D11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991" y="2851662"/>
            <a:ext cx="10820018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Инструмент —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(Go), независим от кода проекта, исключает погрешность Python-клиента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сценария на идентичной нагрузке: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напрямую,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напрямую,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через шлюз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Метрики: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(RPS), средняя задержка, p95-задержка  — важно: в пилоте оба бэкенда эмулировали идентичный sleep(0,1) независимо от типа запроса, поэтому у маршрутизации не было физической причины для выигрыша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B3C7C78-AD29-3F71-F51E-C03111F26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237" y="4006337"/>
            <a:ext cx="8625526" cy="284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1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8F7C5-15C4-5788-11D9-4EC1F93C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81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Основной эксперимент: перемежающийся смешанный поток (70% I/O + 30% CPU-bound)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46ACD7-763B-EA62-4FD5-836719A0C1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128560"/>
            <a:ext cx="12192000" cy="3362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После диагностики причины (см. предыдущий слайд) бэкенды переработаны: тип нагрузки каждого запроса определяется его io_intensity — I/O-ожидание либо настоящий CPU busy-loop. Собственный асинхронный генератор на httpx шлёт перемежающийся поток (70% I/O-bound + 30% CPU-bound) на adaptive, Flask-only и FastAPI-only при конкурентности 20/50/100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Результат: adaptive обгоняет лучший одиночный движок по throughput на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39–87%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(растёт с конкурентностью: 44,75 RPS при 20 → 58,47 RPS при 100), и снижает среднюю задержку в 1,8–2,4 раза относительно Flask-only, в 2,7–6,1 раза относительно FastAPI-only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Механизм: у FastAPI один event loop — CPU-bound busy-loop, выполненный напрямую в async-хендлере, блокирует 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все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остальные запросы (в т.ч. I/O-bound) на время вычисления</a:t>
            </a:r>
            <a:b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с ростом конкурентности throughput FastAPI-only не растёт (12→11 RPS) и появляются таймауты (14 из 1500 запросов при concurrency=100)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 Flask катастрофического отказа нет: каждый запрос — свой OS-поток,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GIL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переключается между потоками каждые ~5 мс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но throughput Flask-only выходит на плато (~31 RPS) — пул потоков дороже держать под I/O-ожиданием, чем event loop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Вывод: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адаптивная маршрутизация ограждает FastAPI от CPU-bound трафика и не нагружает Flask I/O-bound трафиком — избегает обеих слабых сторон одновременно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DE4AAE-2C53-FB2B-04A4-4194888E3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0" y="4267200"/>
            <a:ext cx="932688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270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1B304-1076-FE0E-92C6-975FA59FD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/>
              <a:t>Выводы, практическая значимость, направления развития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3872F2-A23F-013E-7329-3F1427299E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255" y="1364708"/>
            <a:ext cx="11871489" cy="5229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Гипотеза подтвердилась на гетерогенном потоке (I/O-bound + CPU-bound вперемешку):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выше лучшего одиночного движка на 39–87%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Причина эффекта точно локализована: adaptive защищает FastAPI от блокировки event loop CPU-bound запросами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классификации 99,7% — не узкое место)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Практический критерий: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адаптивная маршрутизация оправдана там, где CPU-bound запросы рискуют заблокировать event loop async-сервиса — то есть при смешанном профиле нагрузки (короткие API-запросы вперемешку с тяжёлыми вычислениями)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Даёт разработчикам количественный инструмент принятия архитектурного решения без повторения эксперимента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Направления дальнейшей работы: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вынесение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принятия решения в пул потоков/процессов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(устранение хвостовой p95/p99-задержки)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сравнение с вынесением CPU-bound работы в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executor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тестирование на реальных профилях трафика </a:t>
            </a:r>
          </a:p>
          <a:p>
            <a:pPr marL="0" indent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https://github.com/winlast/adaptive-routing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8607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783</Words>
  <Application>Microsoft Office PowerPoint</Application>
  <PresentationFormat>Широкоэкранный</PresentationFormat>
  <Paragraphs>67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Arial Unicode MS</vt:lpstr>
      <vt:lpstr>Calibri</vt:lpstr>
      <vt:lpstr>Calibri Light</vt:lpstr>
      <vt:lpstr>Times New Roman</vt:lpstr>
      <vt:lpstr>Тема Office</vt:lpstr>
      <vt:lpstr>Адаптивная маршрутизация запросов между синхронным и асинхронным веб-движками на основе классификатора нагрузки: оценка практической целесообразности</vt:lpstr>
      <vt:lpstr>Проблема, актуальность, гипотеза</vt:lpstr>
      <vt:lpstr>Архитектура решения</vt:lpstr>
      <vt:lpstr>Классификатор: архитектура, данные, обучение</vt:lpstr>
      <vt:lpstr>Что именно выучила модель</vt:lpstr>
      <vt:lpstr>Методология и первый результат нагрузочного тестирования</vt:lpstr>
      <vt:lpstr>Диагностика причины: где именно теряется производительность</vt:lpstr>
      <vt:lpstr>Выводы, практическая значимость, направления развития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Станислав Синявский</dc:creator>
  <cp:lastModifiedBy>Станислав Синявский</cp:lastModifiedBy>
  <cp:revision>5</cp:revision>
  <dcterms:created xsi:type="dcterms:W3CDTF">2026-09-02T19:20:03Z</dcterms:created>
  <dcterms:modified xsi:type="dcterms:W3CDTF">2026-09-16T20:47:08Z</dcterms:modified>
</cp:coreProperties>
</file>